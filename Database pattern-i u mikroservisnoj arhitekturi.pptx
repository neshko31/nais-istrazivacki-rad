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Nunito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99EE37-5767-4E16-896A-A67FB07B87C9}">
  <a:tblStyle styleId="{BF99EE37-5767-4E16-896A-A67FB07B87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37" Type="http://schemas.openxmlformats.org/officeDocument/2006/relationships/font" Target="fonts/NunitoMedium-regular.fntdata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39" Type="http://schemas.openxmlformats.org/officeDocument/2006/relationships/font" Target="fonts/NunitoMedium-italic.fntdata"/><Relationship Id="rId16" Type="http://schemas.openxmlformats.org/officeDocument/2006/relationships/slide" Target="slides/slide10.xml"/><Relationship Id="rId38" Type="http://schemas.openxmlformats.org/officeDocument/2006/relationships/font" Target="fonts/Nunito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d37e8c1d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d37e8c1d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7744f65d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7744f65d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7744f65d0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7744f65d0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87997393_0_1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f87997393_0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87997393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87997393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87997393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87997393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96f539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f96f539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f87997393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f87997393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1bf5d4a562bfe0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1bf5d4a562bfe0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1bf5d4a562bfe0d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41bf5d4a562bfe0d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41bf5d4a562bfe0d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41bf5d4a562bfe0d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41bf5d4a562bfe0d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41bf5d4a562bfe0d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1bf5d4a562bfe0d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1bf5d4a562bfe0d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32" name="Google Shape;132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153" name="Google Shape;153;p14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2" name="Google Shape;162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15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73" name="Google Shape;173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15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6" name="Google Shape;1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16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85" name="Google Shape;185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16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medium.com/@rsoni14378/database-per-service-pattern-in-spring-boot-microservices-b6d4ac31407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www.enterpriseintegrationpatterns.com/patterns/messaging/SharedDataBaseIntegration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ctrTitle"/>
          </p:nvPr>
        </p:nvSpPr>
        <p:spPr>
          <a:xfrm>
            <a:off x="3091700" y="1392550"/>
            <a:ext cx="6052500" cy="15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740"/>
              <a:t>Uporedna analiza </a:t>
            </a:r>
            <a:r>
              <a:rPr i="1" lang="en-GB" sz="2740"/>
              <a:t>database pattern</a:t>
            </a:r>
            <a:r>
              <a:rPr lang="en-GB" sz="2740"/>
              <a:t>-a u mikroservisnoj arhitekturi</a:t>
            </a:r>
            <a:endParaRPr sz="274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  <p:sp>
        <p:nvSpPr>
          <p:cNvPr id="195" name="Google Shape;195;p17"/>
          <p:cNvSpPr txBox="1"/>
          <p:nvPr>
            <p:ph idx="1" type="subTitle"/>
          </p:nvPr>
        </p:nvSpPr>
        <p:spPr>
          <a:xfrm>
            <a:off x="6402900" y="3751800"/>
            <a:ext cx="2741100" cy="1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Pešić Teodora        IN1/2022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Todorović Marija   IN13/2022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Lukić Nenad          IN17/2022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Sančanin Srđan    IN59/2022</a:t>
            </a:r>
            <a:endParaRPr sz="1482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 monolita do mikroservisa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1297500" y="1567550"/>
            <a:ext cx="2923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Monolitna arhitektura: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Samostalna celina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Prednosti : jednostavna  implementacija, 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pronalazak greški,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 testiranje i isporuka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Mane : nepraktično za velike sisteme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18"/>
          <p:cNvSpPr txBox="1"/>
          <p:nvPr>
            <p:ph idx="1" type="body"/>
          </p:nvPr>
        </p:nvSpPr>
        <p:spPr>
          <a:xfrm>
            <a:off x="4891600" y="1567550"/>
            <a:ext cx="2923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Mikroservisna arhitektur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a: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Skup više manjih, nezavisnih servisa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Prednosti: skalabilnost, tehnološka heterogenost i lakše održavanje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Mane: </a:t>
            </a:r>
            <a:r>
              <a:rPr lang="en-GB" u="sng">
                <a:latin typeface="Nunito"/>
                <a:ea typeface="Nunito"/>
                <a:cs typeface="Nunito"/>
                <a:sym typeface="Nunito"/>
              </a:rPr>
              <a:t>upravljanje i očuvanje konzistentnosti podataka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Pregled </a:t>
            </a:r>
            <a:r>
              <a:rPr i="1" lang="en-GB"/>
              <a:t>database pattern</a:t>
            </a:r>
            <a:r>
              <a:rPr lang="en-GB"/>
              <a:t>-a 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297500" y="33010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6207000" y="3368125"/>
            <a:ext cx="1916400" cy="4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u="sng">
                <a:solidFill>
                  <a:srgbClr val="FFFFFF"/>
                </a:solidFill>
                <a:latin typeface="Nunito Medium"/>
                <a:ea typeface="Nunito Medium"/>
                <a:cs typeface="Nunito Medium"/>
                <a:sym typeface="Nunito Medium"/>
              </a:rPr>
              <a:t>Shared Database</a:t>
            </a:r>
            <a:endParaRPr i="1" u="sng">
              <a:solidFill>
                <a:srgbClr val="FFFFFF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5474100" y="3301056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2030400" y="3368125"/>
            <a:ext cx="2129400" cy="4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u="sng">
                <a:solidFill>
                  <a:srgbClr val="FFFFFF"/>
                </a:solidFill>
                <a:latin typeface="Nunito Medium"/>
                <a:ea typeface="Nunito Medium"/>
                <a:cs typeface="Nunito Medium"/>
                <a:sym typeface="Nunito Medium"/>
              </a:rPr>
              <a:t>Database per Service</a:t>
            </a:r>
            <a:endParaRPr i="1" u="sng">
              <a:solidFill>
                <a:srgbClr val="FFFFFF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1297500" y="1900050"/>
            <a:ext cx="66102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Skup arhitektonskih rešenja za organizaciju, upravljanje i pristup podacima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Posledica : unapređena skalabilnost sistema, bolje performanse, jednostavnije održavanje i  odgovarajući nivo konzistentnosti podataka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Šta je </a:t>
            </a:r>
            <a:r>
              <a:rPr i="1" lang="en-GB"/>
              <a:t>Database per Service</a:t>
            </a:r>
            <a:r>
              <a:rPr lang="en-GB"/>
              <a:t>?</a:t>
            </a:r>
            <a:endParaRPr/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1297500" y="1567550"/>
            <a:ext cx="31317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Svaki servis ima svoju bazu podataka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Servis je apsolutni vlasnik podataka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Nezavisnost od drugih servisa i njihovih baza podataka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4657675" y="1567550"/>
            <a:ext cx="3896101" cy="24977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3591300" y="4712400"/>
            <a:ext cx="555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Slika preuzeta sa sajta: </a:t>
            </a:r>
            <a:r>
              <a:rPr lang="en-GB" sz="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https://medium.com/@rsoni14378/database-per-service-pattern-in-spring-boot-microservices-b6d4ac314078</a:t>
            </a:r>
            <a:r>
              <a:rPr lang="en-GB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592725" y="4141863"/>
            <a:ext cx="402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Slika br. 1: Ilustrovani prikaz sistema koji koristi Database per Service pattern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2" type="title"/>
          </p:nvPr>
        </p:nvSpPr>
        <p:spPr>
          <a:xfrm>
            <a:off x="1052875" y="283875"/>
            <a:ext cx="3519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/>
              <a:t>Database per Service</a:t>
            </a:r>
            <a:endParaRPr i="1" sz="2400"/>
          </a:p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1052876" y="1555499"/>
            <a:ext cx="2883600" cy="25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Prednosti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Visok stepen autonomije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Skalabilnost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i="1" lang="en-GB" sz="1300">
                <a:latin typeface="Nunito"/>
                <a:ea typeface="Nunito"/>
                <a:cs typeface="Nunito"/>
                <a:sym typeface="Nunito"/>
              </a:rPr>
              <a:t>Polyglot Persistence</a:t>
            </a:r>
            <a:endParaRPr i="1"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Otpornost sistema na greške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21"/>
          <p:cNvSpPr txBox="1"/>
          <p:nvPr>
            <p:ph type="title"/>
          </p:nvPr>
        </p:nvSpPr>
        <p:spPr>
          <a:xfrm>
            <a:off x="5413825" y="1555500"/>
            <a:ext cx="2883600" cy="25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Mane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Očuvanje konzistentnosti podataka (</a:t>
            </a:r>
            <a:r>
              <a:rPr i="1"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SAGA</a:t>
            </a: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 </a:t>
            </a:r>
            <a:r>
              <a:rPr i="1"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event- driven</a:t>
            </a: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komunikacija)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Složenost upita koji zahtevaju podatke iz više servisa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Sinhronizacija promena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702850" y="1708625"/>
            <a:ext cx="78825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20"/>
              <a:buFont typeface="Nunito"/>
              <a:buChar char="●"/>
            </a:pPr>
            <a:r>
              <a:rPr lang="en-GB" sz="1320">
                <a:latin typeface="Nunito"/>
                <a:ea typeface="Nunito"/>
                <a:cs typeface="Nunito"/>
                <a:sym typeface="Nunito"/>
              </a:rPr>
              <a:t>U velikim distribuiranim sistemima </a:t>
            </a:r>
            <a:endParaRPr sz="1320">
              <a:latin typeface="Nunito"/>
              <a:ea typeface="Nunito"/>
              <a:cs typeface="Nunito"/>
              <a:sym typeface="Nunito"/>
            </a:endParaRPr>
          </a:p>
          <a:p>
            <a:pPr indent="-312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20"/>
              <a:buFont typeface="Nunito"/>
              <a:buChar char="●"/>
            </a:pPr>
            <a:r>
              <a:rPr lang="en-GB" sz="1320">
                <a:latin typeface="Nunito"/>
                <a:ea typeface="Nunito"/>
                <a:cs typeface="Nunito"/>
                <a:sym typeface="Nunito"/>
              </a:rPr>
              <a:t>Kada je skalabilnost, nezavisnost razvoja i jednostavno održavanje bitno</a:t>
            </a:r>
            <a:endParaRPr sz="1320">
              <a:latin typeface="Nunito"/>
              <a:ea typeface="Nunito"/>
              <a:cs typeface="Nunito"/>
              <a:sym typeface="Nunito"/>
            </a:endParaRPr>
          </a:p>
          <a:p>
            <a:pPr indent="-312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20"/>
              <a:buFont typeface="Nunito"/>
              <a:buChar char="●"/>
            </a:pPr>
            <a:r>
              <a:rPr lang="en-GB" sz="1320">
                <a:latin typeface="Nunito"/>
                <a:ea typeface="Nunito"/>
                <a:cs typeface="Nunito"/>
                <a:sym typeface="Nunito"/>
              </a:rPr>
              <a:t>Kada je broj korisnika velik</a:t>
            </a:r>
            <a:endParaRPr sz="1320">
              <a:latin typeface="Nunito"/>
              <a:ea typeface="Nunito"/>
              <a:cs typeface="Nunito"/>
              <a:sym typeface="Nunito"/>
            </a:endParaRPr>
          </a:p>
          <a:p>
            <a:pPr indent="-312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20"/>
              <a:buFont typeface="Nunito"/>
              <a:buChar char="●"/>
            </a:pPr>
            <a:r>
              <a:rPr lang="en-GB" sz="1320">
                <a:latin typeface="Nunito"/>
                <a:ea typeface="Nunito"/>
                <a:cs typeface="Nunito"/>
                <a:sym typeface="Nunito"/>
              </a:rPr>
              <a:t>Kada se zahteva visok nivo dostupnosti</a:t>
            </a:r>
            <a:endParaRPr sz="132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22"/>
          <p:cNvSpPr txBox="1"/>
          <p:nvPr>
            <p:ph idx="1" type="body"/>
          </p:nvPr>
        </p:nvSpPr>
        <p:spPr>
          <a:xfrm>
            <a:off x="702850" y="3580300"/>
            <a:ext cx="7544100" cy="11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Primeri korišćenja: </a:t>
            </a:r>
            <a:endParaRPr sz="13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Sistemi za elektronsku trgovinu</a:t>
            </a:r>
            <a:endParaRPr sz="13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Bankarske aplikacije</a:t>
            </a:r>
            <a:endParaRPr sz="13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Platforme za rezervacije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22"/>
          <p:cNvSpPr txBox="1"/>
          <p:nvPr>
            <p:ph idx="2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Kada koristiti </a:t>
            </a:r>
            <a:r>
              <a:rPr i="1" lang="en-GB" sz="2400"/>
              <a:t>Database per Service pattern</a:t>
            </a:r>
            <a:r>
              <a:rPr lang="en-GB" sz="2400"/>
              <a:t>?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1297500" y="393750"/>
            <a:ext cx="37989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Shared Database </a:t>
            </a:r>
            <a:endParaRPr i="1"/>
          </a:p>
        </p:txBody>
      </p:sp>
      <p:sp>
        <p:nvSpPr>
          <p:cNvPr id="241" name="Google Shape;241;p23"/>
          <p:cNvSpPr txBox="1"/>
          <p:nvPr>
            <p:ph idx="1" type="body"/>
          </p:nvPr>
        </p:nvSpPr>
        <p:spPr>
          <a:xfrm>
            <a:off x="948225" y="1363800"/>
            <a:ext cx="40176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Više nezavisnih mikroservisa deli jednu fizičku bazu podataka ili zajedničku šemu</a:t>
            </a:r>
            <a:endParaRPr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Vodi poreklo iz monolitnih sistema</a:t>
            </a:r>
            <a:endParaRPr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Ne postoji izolacija šeme</a:t>
            </a:r>
            <a:endParaRPr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Čvrsta sprega između servisa (</a:t>
            </a:r>
            <a:r>
              <a:rPr i="1"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Coupling</a:t>
            </a:r>
            <a:r>
              <a:rPr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unito"/>
              <a:buChar char="●"/>
            </a:pPr>
            <a:r>
              <a:rPr i="1" lang="en-GB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ACID</a:t>
            </a:r>
            <a:endParaRPr i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2" name="Google Shape;242;p23" title="Screenshot_2026-06-03_12461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688" y="1280425"/>
            <a:ext cx="35718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4367075" y="4712400"/>
            <a:ext cx="477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Slika preuzeta sa sajta: 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https://www.enterpriseintegrationpatterns.com/patterns/messaging/SharedDataBaseIntegration.html</a:t>
            </a:r>
            <a:r>
              <a:rPr lang="en-GB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146163" y="3583950"/>
            <a:ext cx="379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Slika br. 2: Ilustrovani prikaz sistema koji koristi deljenu bazu podataka 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1499100" y="1085900"/>
            <a:ext cx="21438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/>
              <a:t>Prednosti</a:t>
            </a:r>
            <a:endParaRPr sz="2400"/>
          </a:p>
        </p:txBody>
      </p:sp>
      <p:sp>
        <p:nvSpPr>
          <p:cNvPr id="250" name="Google Shape;250;p24"/>
          <p:cNvSpPr txBox="1"/>
          <p:nvPr>
            <p:ph idx="1" type="body"/>
          </p:nvPr>
        </p:nvSpPr>
        <p:spPr>
          <a:xfrm>
            <a:off x="499500" y="1399525"/>
            <a:ext cx="4072500" cy="3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Potpuni inkrementalni backup bez zastoja sistema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Konzistentni i striktno definisani odnosi između podataka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Nema potrebe za dodatnim mrežnim interfejsima između servisa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Manje dupliranja podataka i zastarelih stanja </a:t>
            </a:r>
            <a:endParaRPr sz="13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Podrška za kompleksne i veoma brze upite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Transakcije su jednostavnije za implementaciju 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5588675" y="1086050"/>
            <a:ext cx="214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572000" y="1399525"/>
            <a:ext cx="4389000" cy="26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Baza postaje SPOF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Veći rizik pri bezbednosnim propustima 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Promena šeme (migracija) se mora raditi vrlo pažljivo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Potrebna koordinacija puštanja novih verzija  između timova 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Teško horizontalno skaliranje za sisteme koji intenzivno upisuju u bazu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-GB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Jedan „težak“ upit može usporiti ceo sistem 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1297500" y="393750"/>
            <a:ext cx="7323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Kada koristiti </a:t>
            </a:r>
            <a:r>
              <a:rPr i="1" lang="en-GB"/>
              <a:t>Shared Database (anti)pattern</a:t>
            </a:r>
            <a:r>
              <a:rPr lang="en-GB"/>
              <a:t>?</a:t>
            </a:r>
            <a:endParaRPr/>
          </a:p>
        </p:txBody>
      </p:sp>
      <p:sp>
        <p:nvSpPr>
          <p:cNvPr id="258" name="Google Shape;258;p25"/>
          <p:cNvSpPr txBox="1"/>
          <p:nvPr>
            <p:ph idx="1" type="body"/>
          </p:nvPr>
        </p:nvSpPr>
        <p:spPr>
          <a:xfrm>
            <a:off x="3940725" y="1567550"/>
            <a:ext cx="4968000" cy="3463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Kad je tim manji, rani razvoj proizvoda, brzina isporuke je važnija od autonomije servisa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Postojeći sistem je već zasnovan na jedinstvenom relacijskom modelu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Potrebna je stroga </a:t>
            </a:r>
            <a:r>
              <a:rPr i="1" lang="en-GB">
                <a:latin typeface="Nunito"/>
                <a:ea typeface="Nunito"/>
                <a:cs typeface="Nunito"/>
                <a:sym typeface="Nunito"/>
              </a:rPr>
              <a:t>ACID 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konzistentnost preko entiteta i ne može se koristiti eventualna konzistentnost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Česti izveštaji na zahtev i kompleksni </a:t>
            </a:r>
            <a:r>
              <a:rPr i="1" lang="en-GB">
                <a:latin typeface="Nunito"/>
                <a:ea typeface="Nunito"/>
                <a:cs typeface="Nunito"/>
                <a:sym typeface="Nunito"/>
              </a:rPr>
              <a:t>JOIN 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upiti nad aktivnim podacima su ključna funkcionalnost proizvoda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Migracija iz monolita gde je potreban bezbedan prvi korak pre razdvajanja baza 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3" name="Google Shape;263;p2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{BF99EE37-5767-4E16-896A-A67FB07B87C9}</a:tableStyleId>
              </a:tblPr>
              <a:tblGrid>
                <a:gridCol w="2007675"/>
                <a:gridCol w="28183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lt1"/>
                          </a:solidFill>
                        </a:rPr>
                        <a:t>Database per Service</a:t>
                      </a:r>
                      <a:endParaRPr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lt1"/>
                          </a:solidFill>
                        </a:rPr>
                        <a:t>Shared Database</a:t>
                      </a:r>
                      <a:endParaRPr i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Autonomija servisa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Visoka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Niska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Konzistentnost podataka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Eventualna konzistentnost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chemeClr val="lt1"/>
                          </a:solidFill>
                        </a:rPr>
                        <a:t>ACID</a:t>
                      </a:r>
                      <a:r>
                        <a:rPr lang="en-GB">
                          <a:solidFill>
                            <a:schemeClr val="lt1"/>
                          </a:solidFill>
                        </a:rPr>
                        <a:t> - lokalne transakcije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Skalabilnost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Visoka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Niska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Kompleksnost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Visoka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Niska (u početku)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4" name="Google Shape;264;p26"/>
          <p:cNvSpPr txBox="1"/>
          <p:nvPr/>
        </p:nvSpPr>
        <p:spPr>
          <a:xfrm>
            <a:off x="1133700" y="573875"/>
            <a:ext cx="6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Database per Service</a:t>
            </a:r>
            <a:r>
              <a:rPr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ili </a:t>
            </a:r>
            <a:r>
              <a:rPr i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Shared Database</a:t>
            </a:r>
            <a:endParaRPr i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/>
        </p:nvSpPr>
        <p:spPr>
          <a:xfrm>
            <a:off x="1653750" y="610200"/>
            <a:ext cx="583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Shared Database POF</a:t>
            </a:r>
            <a:endParaRPr i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0" name="Google Shape;270;p27"/>
          <p:cNvGrpSpPr/>
          <p:nvPr/>
        </p:nvGrpSpPr>
        <p:grpSpPr>
          <a:xfrm>
            <a:off x="824988" y="1239600"/>
            <a:ext cx="7494012" cy="3725740"/>
            <a:chOff x="586513" y="1239600"/>
            <a:chExt cx="7494012" cy="3725740"/>
          </a:xfrm>
        </p:grpSpPr>
        <p:pic>
          <p:nvPicPr>
            <p:cNvPr id="271" name="Google Shape;271;p27" title="2.drawi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6513" y="2008088"/>
              <a:ext cx="2951674" cy="1889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7" title="2-1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89162" y="1239600"/>
              <a:ext cx="2791363" cy="1786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 title="2-2.drawio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89162" y="3178670"/>
              <a:ext cx="2791363" cy="178667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4" name="Google Shape;274;p27"/>
            <p:cNvCxnSpPr>
              <a:endCxn id="272" idx="1"/>
            </p:cNvCxnSpPr>
            <p:nvPr/>
          </p:nvCxnSpPr>
          <p:spPr>
            <a:xfrm flipH="1" rot="10800000">
              <a:off x="3537462" y="2132935"/>
              <a:ext cx="1751700" cy="858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5" name="Google Shape;275;p27"/>
            <p:cNvCxnSpPr>
              <a:endCxn id="273" idx="1"/>
            </p:cNvCxnSpPr>
            <p:nvPr/>
          </p:nvCxnSpPr>
          <p:spPr>
            <a:xfrm>
              <a:off x="3537462" y="2983005"/>
              <a:ext cx="1751700" cy="10890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76" name="Google Shape;276;p27"/>
          <p:cNvSpPr txBox="1"/>
          <p:nvPr/>
        </p:nvSpPr>
        <p:spPr>
          <a:xfrm>
            <a:off x="825000" y="4642238"/>
            <a:ext cx="402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Dijagram</a:t>
            </a: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br. 1: Ilustrovani prikaz </a:t>
            </a:r>
            <a:r>
              <a:rPr i="1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Shared Database POF</a:t>
            </a:r>
            <a:endParaRPr i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8"/>
          <p:cNvGrpSpPr/>
          <p:nvPr/>
        </p:nvGrpSpPr>
        <p:grpSpPr>
          <a:xfrm>
            <a:off x="990650" y="2014050"/>
            <a:ext cx="7162700" cy="1959925"/>
            <a:chOff x="825000" y="1956075"/>
            <a:chExt cx="7162700" cy="1959925"/>
          </a:xfrm>
        </p:grpSpPr>
        <p:pic>
          <p:nvPicPr>
            <p:cNvPr id="282" name="Google Shape;282;p28" title="6.drawi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000" y="1956075"/>
              <a:ext cx="2936001" cy="1959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 title="6-1.drawi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02175" y="2006300"/>
              <a:ext cx="2785525" cy="18594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4" name="Google Shape;284;p28"/>
            <p:cNvCxnSpPr>
              <a:endCxn id="283" idx="1"/>
            </p:cNvCxnSpPr>
            <p:nvPr/>
          </p:nvCxnSpPr>
          <p:spPr>
            <a:xfrm flipH="1" rot="10800000">
              <a:off x="3785875" y="2936038"/>
              <a:ext cx="1416300" cy="1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5" name="Google Shape;285;p28"/>
          <p:cNvSpPr txBox="1"/>
          <p:nvPr/>
        </p:nvSpPr>
        <p:spPr>
          <a:xfrm>
            <a:off x="1653750" y="610200"/>
            <a:ext cx="583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Database per Service POF</a:t>
            </a:r>
            <a:endParaRPr i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990650" y="4032588"/>
            <a:ext cx="402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Dijagram br. 2: Ilustrovani prikaz </a:t>
            </a:r>
            <a:r>
              <a:rPr i="1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 per Service</a:t>
            </a:r>
            <a:r>
              <a:rPr i="1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POF</a:t>
            </a:r>
            <a:endParaRPr i="1"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Primena </a:t>
            </a:r>
            <a:r>
              <a:rPr i="1" lang="en-GB"/>
              <a:t>Database per Service</a:t>
            </a:r>
            <a:r>
              <a:rPr lang="en-GB"/>
              <a:t> pristupa</a:t>
            </a:r>
            <a:endParaRPr/>
          </a:p>
        </p:txBody>
      </p:sp>
      <p:pic>
        <p:nvPicPr>
          <p:cNvPr id="292" name="Google Shape;292;p29" title="Dijagrami za NAIS Istrazivacki rad-Stranica-1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675" y="1307850"/>
            <a:ext cx="6206550" cy="28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1713675" y="4124375"/>
            <a:ext cx="620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Slika br. 3: </a:t>
            </a: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Prikaz mikroservisne arhitekture za </a:t>
            </a:r>
            <a:r>
              <a:rPr i="1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 per Service</a:t>
            </a: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pristup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>
            <p:ph type="title"/>
          </p:nvPr>
        </p:nvSpPr>
        <p:spPr>
          <a:xfrm>
            <a:off x="368100" y="2027925"/>
            <a:ext cx="4203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Jednostavnije šeme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“Ograničenje stranog ključa”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Samo neophodna polja za poslovne funkcionalnosti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 sz="1300">
                <a:latin typeface="Nunito"/>
                <a:ea typeface="Nunito"/>
                <a:cs typeface="Nunito"/>
                <a:sym typeface="Nunito"/>
              </a:rPr>
              <a:t>Očuvanje konzistentnosti podataka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p30"/>
          <p:cNvSpPr txBox="1"/>
          <p:nvPr>
            <p:ph idx="2" type="title"/>
          </p:nvPr>
        </p:nvSpPr>
        <p:spPr>
          <a:xfrm>
            <a:off x="1297500" y="459525"/>
            <a:ext cx="3274500" cy="15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Specifičnosti šema baza podataka u </a:t>
            </a:r>
            <a:r>
              <a:rPr i="1" lang="en-GB" sz="2400"/>
              <a:t>Database per Service</a:t>
            </a:r>
            <a:r>
              <a:rPr lang="en-GB" sz="2400"/>
              <a:t> pristupu</a:t>
            </a:r>
            <a:endParaRPr sz="2400"/>
          </a:p>
        </p:txBody>
      </p:sp>
      <p:pic>
        <p:nvPicPr>
          <p:cNvPr id="300" name="Google Shape;300;p30" title="Dijagrami za NAIS Istrazivacki rad-Stranica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14762"/>
            <a:ext cx="4572001" cy="2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 txBox="1"/>
          <p:nvPr/>
        </p:nvSpPr>
        <p:spPr>
          <a:xfrm>
            <a:off x="4572000" y="41384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Slika br. 4: Prikaz šema baza podataka u servisima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Upotreba transakcija u mikroservisnoj arhitekturi</a:t>
            </a:r>
            <a:endParaRPr/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1297500" y="1879775"/>
            <a:ext cx="3403200" cy="25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Distribuirani algoritam za upravljanje procesima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Postojanje 2 faze: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Faza glasanja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i="1" lang="en-GB"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 faza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Osobine: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i="1" lang="en-GB">
                <a:latin typeface="Nunito"/>
                <a:ea typeface="Nunito"/>
                <a:cs typeface="Nunito"/>
                <a:sym typeface="Nunito"/>
              </a:rPr>
              <a:t>ACID 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principi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Sinhrono izvršavanje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Povećanje spregnutosti između servisa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Zavisnost od najsporijeg servisa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31"/>
          <p:cNvSpPr txBox="1"/>
          <p:nvPr>
            <p:ph idx="2" type="body"/>
          </p:nvPr>
        </p:nvSpPr>
        <p:spPr>
          <a:xfrm>
            <a:off x="4933225" y="1879850"/>
            <a:ext cx="3403200" cy="25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Razlaganje transakcije na niz manjih, lokalnih transakcija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Primena kompenzacionih akcija u slučaju neuspešnog izvršavanja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Načini implementacije: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Orkestracija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Koreografija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"/>
              <a:buChar char="●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Osobine: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i="1" lang="en-GB">
                <a:latin typeface="Nunito"/>
                <a:ea typeface="Nunito"/>
                <a:cs typeface="Nunito"/>
                <a:sym typeface="Nunito"/>
              </a:rPr>
              <a:t>BASE</a:t>
            </a:r>
            <a:r>
              <a:rPr lang="en-GB">
                <a:latin typeface="Nunito"/>
                <a:ea typeface="Nunito"/>
                <a:cs typeface="Nunito"/>
                <a:sym typeface="Nunito"/>
              </a:rPr>
              <a:t> principi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○"/>
            </a:pPr>
            <a:r>
              <a:rPr lang="en-GB">
                <a:latin typeface="Nunito"/>
                <a:ea typeface="Nunito"/>
                <a:cs typeface="Nunito"/>
                <a:sym typeface="Nunito"/>
              </a:rPr>
              <a:t>Asinhrono izvršavanje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1297500" y="1434875"/>
            <a:ext cx="3403200" cy="4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800">
                <a:latin typeface="Montserrat"/>
                <a:ea typeface="Montserrat"/>
                <a:cs typeface="Montserrat"/>
                <a:sym typeface="Montserrat"/>
              </a:rPr>
              <a:t>2PC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 protokol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1"/>
          <p:cNvSpPr txBox="1"/>
          <p:nvPr>
            <p:ph idx="1" type="body"/>
          </p:nvPr>
        </p:nvSpPr>
        <p:spPr>
          <a:xfrm>
            <a:off x="4933225" y="1434875"/>
            <a:ext cx="3403200" cy="4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-GB" sz="1800">
                <a:latin typeface="Montserrat"/>
                <a:ea typeface="Montserrat"/>
                <a:cs typeface="Montserrat"/>
                <a:sym typeface="Montserrat"/>
              </a:rPr>
              <a:t>SAGA 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šablon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1297500" y="459516"/>
            <a:ext cx="32745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Primeri implementacije </a:t>
            </a:r>
            <a:r>
              <a:rPr i="1" lang="en-GB" sz="2400"/>
              <a:t>SAGA </a:t>
            </a:r>
            <a:r>
              <a:rPr lang="en-GB" sz="2400"/>
              <a:t>šablona</a:t>
            </a:r>
            <a:endParaRPr/>
          </a:p>
        </p:txBody>
      </p:sp>
      <p:pic>
        <p:nvPicPr>
          <p:cNvPr id="316" name="Google Shape;316;p32" title="Dijagrami za NAIS Istrazivacki rad-Stranica-3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25" y="1789725"/>
            <a:ext cx="3188756" cy="30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2" title="Dijagrami za NAIS Istrazivacki rad-Stranica-4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325" y="1789725"/>
            <a:ext cx="3199359" cy="30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/>
          <p:nvPr/>
        </p:nvSpPr>
        <p:spPr>
          <a:xfrm>
            <a:off x="0" y="48204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Slika br. 5: </a:t>
            </a: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Prikaz implementacije orkestriranog </a:t>
            </a:r>
            <a:r>
              <a:rPr i="1"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SAGA </a:t>
            </a:r>
            <a:r>
              <a:rPr lang="en-GB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šablona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4572000" y="4820400"/>
            <a:ext cx="457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Slika br. 6: Prikaz implementacije koreografisanog </a:t>
            </a:r>
            <a:r>
              <a:rPr i="1" lang="en-GB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SAGA </a:t>
            </a:r>
            <a:r>
              <a:rPr lang="en-GB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šablona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823850" y="866775"/>
            <a:ext cx="4587000" cy="117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/>
              <a:t>O</a:t>
            </a:r>
            <a:r>
              <a:rPr lang="en-GB" sz="2400"/>
              <a:t> osobinama </a:t>
            </a:r>
            <a:r>
              <a:rPr i="1" lang="en-GB" sz="2400"/>
              <a:t>Database per Service</a:t>
            </a:r>
            <a:r>
              <a:rPr lang="en-GB" sz="2400"/>
              <a:t> pristupa</a:t>
            </a:r>
            <a:endParaRPr sz="2400"/>
          </a:p>
        </p:txBody>
      </p:sp>
      <p:sp>
        <p:nvSpPr>
          <p:cNvPr id="325" name="Google Shape;325;p33"/>
          <p:cNvSpPr txBox="1"/>
          <p:nvPr>
            <p:ph type="title"/>
          </p:nvPr>
        </p:nvSpPr>
        <p:spPr>
          <a:xfrm>
            <a:off x="823850" y="2041875"/>
            <a:ext cx="4587000" cy="310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Glavni ciljevi pristupa: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Nezavisnost baza podataka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Enkapsulacija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Izbor tehnologija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Skalabilnost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Otpornost na pad baze podataka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Najvažnije osobine: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Niska spregnutost servisa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N</a:t>
            </a:r>
            <a:r>
              <a:rPr lang="en-GB" sz="1300"/>
              <a:t>ezavisno skaliranje baza podataka i samih servisa, </a:t>
            </a:r>
            <a:r>
              <a:rPr i="1" lang="en-GB" sz="1300"/>
              <a:t>API Gateway </a:t>
            </a:r>
            <a:r>
              <a:rPr lang="en-GB" sz="1300"/>
              <a:t>dobija ulogu </a:t>
            </a:r>
            <a:r>
              <a:rPr i="1" lang="en-GB" sz="1300"/>
              <a:t>load balancer</a:t>
            </a:r>
            <a:r>
              <a:rPr lang="en-GB" sz="1300"/>
              <a:t>-a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Autonomija servisa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Izolacija greške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Dostupnost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Kompleksnost i cena razvoja</a:t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>
            <p:ph type="title"/>
          </p:nvPr>
        </p:nvSpPr>
        <p:spPr>
          <a:xfrm>
            <a:off x="3040350" y="1808375"/>
            <a:ext cx="30633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Hvala na pažnji!</a:t>
            </a:r>
            <a:endParaRPr sz="2700"/>
          </a:p>
        </p:txBody>
      </p:sp>
      <p:sp>
        <p:nvSpPr>
          <p:cNvPr id="331" name="Google Shape;331;p34"/>
          <p:cNvSpPr txBox="1"/>
          <p:nvPr>
            <p:ph idx="1" type="body"/>
          </p:nvPr>
        </p:nvSpPr>
        <p:spPr>
          <a:xfrm>
            <a:off x="3040350" y="2500775"/>
            <a:ext cx="30633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Montserrat"/>
                <a:ea typeface="Montserrat"/>
                <a:cs typeface="Montserrat"/>
                <a:sym typeface="Montserrat"/>
              </a:rPr>
              <a:t>Pitanja?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